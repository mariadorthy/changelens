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loud Lucent Bold" charset="1" panose="00000000000000000000"/>
      <p:regular r:id="rId18"/>
    </p:embeddedFont>
    <p:embeddedFont>
      <p:font typeface="Shlomo Bold" charset="1" panose="02000400000000000000"/>
      <p:regular r:id="rId19"/>
    </p:embeddedFont>
    <p:embeddedFont>
      <p:font typeface="Shlomo" charset="1" panose="02000400000000000000"/>
      <p:regular r:id="rId20"/>
    </p:embeddedFont>
    <p:embeddedFont>
      <p:font typeface="Playfair Display" charset="1" panose="00000000000000000000"/>
      <p:regular r:id="rId21"/>
    </p:embeddedFont>
    <p:embeddedFont>
      <p:font typeface="Quilin" charset="1" panose="00000000000000000000"/>
      <p:regular r:id="rId22"/>
    </p:embeddedFont>
    <p:embeddedFont>
      <p:font typeface="Quintessential" charset="1" panose="0302050000000002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jpeg" Type="http://schemas.openxmlformats.org/officeDocument/2006/relationships/image"/><Relationship Id="rId3" Target="../media/image42.png" Type="http://schemas.openxmlformats.org/officeDocument/2006/relationships/image"/><Relationship Id="rId4" Target="../media/image43.sv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730095">
            <a:off x="-3220385" y="5712769"/>
            <a:ext cx="11252248" cy="9148462"/>
          </a:xfrm>
          <a:custGeom>
            <a:avLst/>
            <a:gdLst/>
            <a:ahLst/>
            <a:cxnLst/>
            <a:rect r="r" b="b" t="t" l="l"/>
            <a:pathLst>
              <a:path h="9148462" w="11252248">
                <a:moveTo>
                  <a:pt x="0" y="0"/>
                </a:moveTo>
                <a:lnTo>
                  <a:pt x="11252247" y="0"/>
                </a:lnTo>
                <a:lnTo>
                  <a:pt x="11252247" y="9148462"/>
                </a:lnTo>
                <a:lnTo>
                  <a:pt x="0" y="9148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62" r="0" b="-111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29146">
            <a:off x="9423610" y="-7315723"/>
            <a:ext cx="14352747" cy="14274459"/>
          </a:xfrm>
          <a:custGeom>
            <a:avLst/>
            <a:gdLst/>
            <a:ahLst/>
            <a:cxnLst/>
            <a:rect r="r" b="b" t="t" l="l"/>
            <a:pathLst>
              <a:path h="14274459" w="14352747">
                <a:moveTo>
                  <a:pt x="0" y="0"/>
                </a:moveTo>
                <a:lnTo>
                  <a:pt x="14352747" y="0"/>
                </a:lnTo>
                <a:lnTo>
                  <a:pt x="14352747" y="14274459"/>
                </a:lnTo>
                <a:lnTo>
                  <a:pt x="0" y="14274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264276" y="1854233"/>
            <a:ext cx="13306042" cy="13306042"/>
            <a:chOff x="0" y="0"/>
            <a:chExt cx="17741390" cy="17741390"/>
          </a:xfrm>
        </p:grpSpPr>
        <p:grpSp>
          <p:nvGrpSpPr>
            <p:cNvPr name="Group 5" id="5"/>
            <p:cNvGrpSpPr/>
            <p:nvPr/>
          </p:nvGrpSpPr>
          <p:grpSpPr>
            <a:xfrm rot="3768513">
              <a:off x="2282484" y="2282484"/>
              <a:ext cx="13176422" cy="13176422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2D9B3">
                  <a:alpha val="40000"/>
                </a:srgbClr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-644375">
              <a:off x="2270278" y="2264197"/>
              <a:ext cx="13275171" cy="13287733"/>
              <a:chOff x="0" y="0"/>
              <a:chExt cx="812032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03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032">
                    <a:moveTo>
                      <a:pt x="406016" y="0"/>
                    </a:moveTo>
                    <a:cubicBezTo>
                      <a:pt x="181779" y="0"/>
                      <a:pt x="0" y="181951"/>
                      <a:pt x="0" y="406400"/>
                    </a:cubicBezTo>
                    <a:cubicBezTo>
                      <a:pt x="0" y="630849"/>
                      <a:pt x="181779" y="812800"/>
                      <a:pt x="406016" y="812800"/>
                    </a:cubicBezTo>
                    <a:cubicBezTo>
                      <a:pt x="630252" y="812800"/>
                      <a:pt x="812032" y="630849"/>
                      <a:pt x="812032" y="406400"/>
                    </a:cubicBezTo>
                    <a:cubicBezTo>
                      <a:pt x="812032" y="181951"/>
                      <a:pt x="630252" y="0"/>
                      <a:pt x="406016" y="0"/>
                    </a:cubicBez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128" y="38100"/>
                <a:ext cx="659776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-1797637">
            <a:off x="14121422" y="4004242"/>
            <a:ext cx="717722" cy="71772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5300">
                <a:alpha val="64706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481" y="6026640"/>
            <a:ext cx="6611715" cy="181157"/>
            <a:chOff x="0" y="0"/>
            <a:chExt cx="8815620" cy="241542"/>
          </a:xfrm>
        </p:grpSpPr>
        <p:sp>
          <p:nvSpPr>
            <p:cNvPr name="AutoShape 15" id="15"/>
            <p:cNvSpPr/>
            <p:nvPr/>
          </p:nvSpPr>
          <p:spPr>
            <a:xfrm>
              <a:off x="0" y="120771"/>
              <a:ext cx="8656320" cy="0"/>
            </a:xfrm>
            <a:prstGeom prst="line">
              <a:avLst/>
            </a:prstGeom>
            <a:ln cap="flat" w="101600">
              <a:solidFill>
                <a:srgbClr val="2D3A4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574078" y="0"/>
              <a:ext cx="241542" cy="241542"/>
            </a:xfrm>
            <a:custGeom>
              <a:avLst/>
              <a:gdLst/>
              <a:ahLst/>
              <a:cxnLst/>
              <a:rect r="r" b="b" t="t" l="l"/>
              <a:pathLst>
                <a:path h="241542" w="241542">
                  <a:moveTo>
                    <a:pt x="0" y="0"/>
                  </a:moveTo>
                  <a:lnTo>
                    <a:pt x="241542" y="0"/>
                  </a:lnTo>
                  <a:lnTo>
                    <a:pt x="241542" y="241542"/>
                  </a:lnTo>
                  <a:lnTo>
                    <a:pt x="0" y="241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-3729146">
            <a:off x="13181092" y="3428203"/>
            <a:ext cx="10213815" cy="10158104"/>
          </a:xfrm>
          <a:custGeom>
            <a:avLst/>
            <a:gdLst/>
            <a:ahLst/>
            <a:cxnLst/>
            <a:rect r="r" b="b" t="t" l="l"/>
            <a:pathLst>
              <a:path h="10158104" w="10213815">
                <a:moveTo>
                  <a:pt x="0" y="0"/>
                </a:moveTo>
                <a:lnTo>
                  <a:pt x="10213816" y="0"/>
                </a:lnTo>
                <a:lnTo>
                  <a:pt x="10213816" y="10158103"/>
                </a:lnTo>
                <a:lnTo>
                  <a:pt x="0" y="101581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32722" y="8673955"/>
            <a:ext cx="2131212" cy="1139230"/>
          </a:xfrm>
          <a:custGeom>
            <a:avLst/>
            <a:gdLst/>
            <a:ahLst/>
            <a:cxnLst/>
            <a:rect r="r" b="b" t="t" l="l"/>
            <a:pathLst>
              <a:path h="1139230" w="2131212">
                <a:moveTo>
                  <a:pt x="0" y="0"/>
                </a:moveTo>
                <a:lnTo>
                  <a:pt x="2131212" y="0"/>
                </a:lnTo>
                <a:lnTo>
                  <a:pt x="2131212" y="1139229"/>
                </a:lnTo>
                <a:lnTo>
                  <a:pt x="0" y="1139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2881129"/>
            <a:ext cx="11409653" cy="197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8"/>
              </a:lnSpc>
            </a:pPr>
            <a:r>
              <a:rPr lang="en-US" b="true" sz="11356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CHANGELENS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481" y="4827400"/>
            <a:ext cx="10211894" cy="51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3"/>
              </a:lnSpc>
            </a:pPr>
            <a:r>
              <a:rPr lang="en-US" sz="3002" spc="78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KNOW WHAT </a:t>
            </a:r>
            <a:r>
              <a:rPr lang="en-US" sz="3002" spc="78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ELSE NEEDS TO CHANGE.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84253" y="9516007"/>
            <a:ext cx="2712275" cy="29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IBM B</a:t>
            </a:r>
            <a:r>
              <a:rPr lang="en-US" sz="1800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ob 2.0 Hackathon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481" y="6396381"/>
            <a:ext cx="7346532" cy="158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78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EVIDENC</a:t>
            </a:r>
            <a:r>
              <a:rPr lang="en-US" sz="3000" spc="78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E-BACKED CHANGE COMPLETENESS ANALYSIS FOR REAL REPOSITORIES.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215950">
            <a:off x="14765736" y="-832939"/>
            <a:ext cx="4456085" cy="4318351"/>
          </a:xfrm>
          <a:custGeom>
            <a:avLst/>
            <a:gdLst/>
            <a:ahLst/>
            <a:cxnLst/>
            <a:rect r="r" b="b" t="t" l="l"/>
            <a:pathLst>
              <a:path h="4318351" w="4456085">
                <a:moveTo>
                  <a:pt x="0" y="0"/>
                </a:moveTo>
                <a:lnTo>
                  <a:pt x="4456085" y="0"/>
                </a:lnTo>
                <a:lnTo>
                  <a:pt x="4456085" y="4318352"/>
                </a:lnTo>
                <a:lnTo>
                  <a:pt x="0" y="431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15950">
            <a:off x="-215706" y="6614661"/>
            <a:ext cx="4456085" cy="4318351"/>
          </a:xfrm>
          <a:custGeom>
            <a:avLst/>
            <a:gdLst/>
            <a:ahLst/>
            <a:cxnLst/>
            <a:rect r="r" b="b" t="t" l="l"/>
            <a:pathLst>
              <a:path h="4318351" w="4456085">
                <a:moveTo>
                  <a:pt x="0" y="0"/>
                </a:moveTo>
                <a:lnTo>
                  <a:pt x="4456085" y="0"/>
                </a:lnTo>
                <a:lnTo>
                  <a:pt x="4456085" y="4318351"/>
                </a:lnTo>
                <a:lnTo>
                  <a:pt x="0" y="43183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9090">
            <a:off x="9564038" y="1636725"/>
            <a:ext cx="7265573" cy="7265573"/>
          </a:xfrm>
          <a:custGeom>
            <a:avLst/>
            <a:gdLst/>
            <a:ahLst/>
            <a:cxnLst/>
            <a:rect r="r" b="b" t="t" l="l"/>
            <a:pathLst>
              <a:path h="7265573" w="7265573">
                <a:moveTo>
                  <a:pt x="0" y="0"/>
                </a:moveTo>
                <a:lnTo>
                  <a:pt x="7265572" y="0"/>
                </a:lnTo>
                <a:lnTo>
                  <a:pt x="7265572" y="7265572"/>
                </a:lnTo>
                <a:lnTo>
                  <a:pt x="0" y="726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87988">
            <a:off x="11172524" y="2005395"/>
            <a:ext cx="4048600" cy="6528231"/>
          </a:xfrm>
          <a:custGeom>
            <a:avLst/>
            <a:gdLst/>
            <a:ahLst/>
            <a:cxnLst/>
            <a:rect r="r" b="b" t="t" l="l"/>
            <a:pathLst>
              <a:path h="6528231" w="4048600">
                <a:moveTo>
                  <a:pt x="0" y="0"/>
                </a:moveTo>
                <a:lnTo>
                  <a:pt x="4048600" y="0"/>
                </a:lnTo>
                <a:lnTo>
                  <a:pt x="4048600" y="6528232"/>
                </a:lnTo>
                <a:lnTo>
                  <a:pt x="0" y="6528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90983" y="4289447"/>
            <a:ext cx="6339499" cy="33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When a developer changes one file, related APIs, tests, configuration, documentation, or source references may also deserve review.</a:t>
            </a:r>
          </a:p>
          <a:p>
            <a:pPr algn="l" marL="0" indent="0" lvl="0">
              <a:lnSpc>
                <a:spcPts val="3359"/>
              </a:lnSpc>
            </a:pPr>
          </a:p>
          <a:p>
            <a:pPr algn="l" marL="0" indent="0" lvl="0">
              <a:lnSpc>
                <a:spcPts val="3359"/>
              </a:lnSpc>
            </a:pPr>
            <a:r>
              <a:rPr lang="en-US" sz="2400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challenge is not only finding what changed — it is understanding what else is connected to that change.</a:t>
            </a:r>
          </a:p>
          <a:p>
            <a:pPr algn="l" marL="0" indent="0" lvl="0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-13234">
            <a:off x="960931" y="1158524"/>
            <a:ext cx="7253590" cy="23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7"/>
              </a:lnSpc>
            </a:pPr>
            <a:r>
              <a:rPr lang="en-US" b="true" sz="5561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THE PROBLEM: A CODE CHANGE IS RARELY ISOLATED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117" y="9220200"/>
            <a:ext cx="1554747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649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CHANGELENS ANSWERS THIS QUESTION WITH REPOSITORY EVIDENCE.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2286583" y="3901299"/>
            <a:ext cx="7030844" cy="6161576"/>
          </a:xfrm>
          <a:custGeom>
            <a:avLst/>
            <a:gdLst/>
            <a:ahLst/>
            <a:cxnLst/>
            <a:rect r="r" b="b" t="t" l="l"/>
            <a:pathLst>
              <a:path h="6161576" w="7030844">
                <a:moveTo>
                  <a:pt x="0" y="6161576"/>
                </a:moveTo>
                <a:lnTo>
                  <a:pt x="7030844" y="6161576"/>
                </a:lnTo>
                <a:lnTo>
                  <a:pt x="7030844" y="0"/>
                </a:lnTo>
                <a:lnTo>
                  <a:pt x="0" y="0"/>
                </a:lnTo>
                <a:lnTo>
                  <a:pt x="0" y="61615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43014" y="5074791"/>
            <a:ext cx="1907295" cy="190729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53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-2164925">
            <a:off x="9286162" y="2191304"/>
            <a:ext cx="11420999" cy="6416525"/>
          </a:xfrm>
          <a:custGeom>
            <a:avLst/>
            <a:gdLst/>
            <a:ahLst/>
            <a:cxnLst/>
            <a:rect r="r" b="b" t="t" l="l"/>
            <a:pathLst>
              <a:path h="6416525" w="11420999">
                <a:moveTo>
                  <a:pt x="0" y="6416524"/>
                </a:moveTo>
                <a:lnTo>
                  <a:pt x="11420999" y="6416524"/>
                </a:lnTo>
                <a:lnTo>
                  <a:pt x="11420999" y="0"/>
                </a:lnTo>
                <a:lnTo>
                  <a:pt x="0" y="0"/>
                </a:lnTo>
                <a:lnTo>
                  <a:pt x="0" y="64165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875807" y="9201150"/>
            <a:ext cx="6492240" cy="0"/>
          </a:xfrm>
          <a:prstGeom prst="line">
            <a:avLst/>
          </a:prstGeom>
          <a:ln cap="flat" w="114300">
            <a:solidFill>
              <a:srgbClr val="7A746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7006673">
            <a:off x="15624190" y="6433986"/>
            <a:ext cx="2626562" cy="3968706"/>
          </a:xfrm>
          <a:custGeom>
            <a:avLst/>
            <a:gdLst/>
            <a:ahLst/>
            <a:cxnLst/>
            <a:rect r="r" b="b" t="t" l="l"/>
            <a:pathLst>
              <a:path h="3968706" w="2626562">
                <a:moveTo>
                  <a:pt x="0" y="3968705"/>
                </a:moveTo>
                <a:lnTo>
                  <a:pt x="2626561" y="3968705"/>
                </a:lnTo>
                <a:lnTo>
                  <a:pt x="2626561" y="0"/>
                </a:lnTo>
                <a:lnTo>
                  <a:pt x="0" y="0"/>
                </a:lnTo>
                <a:lnTo>
                  <a:pt x="0" y="396870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3293" y="-2165215"/>
            <a:ext cx="2167315" cy="2167315"/>
          </a:xfrm>
          <a:custGeom>
            <a:avLst/>
            <a:gdLst/>
            <a:ahLst/>
            <a:cxnLst/>
            <a:rect r="r" b="b" t="t" l="l"/>
            <a:pathLst>
              <a:path h="2167315" w="2167315">
                <a:moveTo>
                  <a:pt x="0" y="0"/>
                </a:moveTo>
                <a:lnTo>
                  <a:pt x="2167315" y="0"/>
                </a:lnTo>
                <a:lnTo>
                  <a:pt x="2167315" y="2167315"/>
                </a:lnTo>
                <a:lnTo>
                  <a:pt x="0" y="21673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3361" y="494235"/>
            <a:ext cx="4420947" cy="8373938"/>
          </a:xfrm>
          <a:custGeom>
            <a:avLst/>
            <a:gdLst/>
            <a:ahLst/>
            <a:cxnLst/>
            <a:rect r="r" b="b" t="t" l="l"/>
            <a:pathLst>
              <a:path h="8373938" w="4420947">
                <a:moveTo>
                  <a:pt x="0" y="0"/>
                </a:moveTo>
                <a:lnTo>
                  <a:pt x="4420947" y="0"/>
                </a:lnTo>
                <a:lnTo>
                  <a:pt x="4420947" y="8373938"/>
                </a:lnTo>
                <a:lnTo>
                  <a:pt x="0" y="8373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36822" y="1114425"/>
            <a:ext cx="13617035" cy="77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2"/>
              </a:lnSpc>
            </a:pPr>
            <a:r>
              <a:rPr lang="en-US" b="true" sz="5727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THE CHANGELENS APPROACH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1281" y="2445631"/>
            <a:ext cx="11304974" cy="245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ChangeLens connects the current Git changes with relationships already present in the repository.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 compares the changes with related artifacts to identify items that may still require developer review.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16433" y="5273651"/>
            <a:ext cx="7064566" cy="348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CHANGE </a:t>
            </a:r>
          </a:p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 ↓</a:t>
            </a:r>
          </a:p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 RELATIONSHIPS</a:t>
            </a:r>
          </a:p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 ↓</a:t>
            </a:r>
          </a:p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 EVIDENCE </a:t>
            </a:r>
          </a:p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 ↓</a:t>
            </a:r>
          </a:p>
          <a:p>
            <a:pPr algn="ctr">
              <a:lnSpc>
                <a:spcPts val="3965"/>
              </a:lnSpc>
              <a:spcBef>
                <a:spcPct val="0"/>
              </a:spcBef>
            </a:pPr>
            <a:r>
              <a:rPr lang="en-US" sz="3850" spc="100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 DEVELOPER REVIEW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147884" y="9239250"/>
            <a:ext cx="6492240" cy="0"/>
          </a:xfrm>
          <a:prstGeom prst="line">
            <a:avLst/>
          </a:prstGeom>
          <a:ln cap="flat" w="114300">
            <a:solidFill>
              <a:srgbClr val="7A746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85174" y="1313381"/>
            <a:ext cx="1429333" cy="1429333"/>
          </a:xfrm>
          <a:custGeom>
            <a:avLst/>
            <a:gdLst/>
            <a:ahLst/>
            <a:cxnLst/>
            <a:rect r="r" b="b" t="t" l="l"/>
            <a:pathLst>
              <a:path h="1429333" w="1429333">
                <a:moveTo>
                  <a:pt x="0" y="0"/>
                </a:moveTo>
                <a:lnTo>
                  <a:pt x="1429334" y="0"/>
                </a:lnTo>
                <a:lnTo>
                  <a:pt x="1429334" y="1429333"/>
                </a:lnTo>
                <a:lnTo>
                  <a:pt x="0" y="1429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61022" y="-139267"/>
            <a:ext cx="2167315" cy="2167315"/>
          </a:xfrm>
          <a:custGeom>
            <a:avLst/>
            <a:gdLst/>
            <a:ahLst/>
            <a:cxnLst/>
            <a:rect r="r" b="b" t="t" l="l"/>
            <a:pathLst>
              <a:path h="2167315" w="2167315">
                <a:moveTo>
                  <a:pt x="0" y="0"/>
                </a:moveTo>
                <a:lnTo>
                  <a:pt x="2167315" y="0"/>
                </a:lnTo>
                <a:lnTo>
                  <a:pt x="2167315" y="2167315"/>
                </a:lnTo>
                <a:lnTo>
                  <a:pt x="0" y="216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61434">
            <a:off x="-516278" y="7743148"/>
            <a:ext cx="3051857" cy="2098152"/>
            <a:chOff x="0" y="0"/>
            <a:chExt cx="60960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9600" cy="419100"/>
            </a:xfrm>
            <a:custGeom>
              <a:avLst/>
              <a:gdLst/>
              <a:ahLst/>
              <a:cxnLst/>
              <a:rect r="r" b="b" t="t" l="l"/>
              <a:pathLst>
                <a:path h="419100" w="609600">
                  <a:moveTo>
                    <a:pt x="0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5400" y="-38100"/>
              <a:ext cx="381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347636">
            <a:off x="140282" y="7336730"/>
            <a:ext cx="2604010" cy="2910987"/>
          </a:xfrm>
          <a:custGeom>
            <a:avLst/>
            <a:gdLst/>
            <a:ahLst/>
            <a:cxnLst/>
            <a:rect r="r" b="b" t="t" l="l"/>
            <a:pathLst>
              <a:path h="2910987" w="2604010">
                <a:moveTo>
                  <a:pt x="2604010" y="0"/>
                </a:moveTo>
                <a:lnTo>
                  <a:pt x="0" y="0"/>
                </a:lnTo>
                <a:lnTo>
                  <a:pt x="0" y="2910987"/>
                </a:lnTo>
                <a:lnTo>
                  <a:pt x="2604010" y="2910987"/>
                </a:lnTo>
                <a:lnTo>
                  <a:pt x="26040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03748" y="8715375"/>
            <a:ext cx="1568896" cy="1047750"/>
          </a:xfrm>
          <a:custGeom>
            <a:avLst/>
            <a:gdLst/>
            <a:ahLst/>
            <a:cxnLst/>
            <a:rect r="r" b="b" t="t" l="l"/>
            <a:pathLst>
              <a:path h="1047750" w="1568896">
                <a:moveTo>
                  <a:pt x="0" y="0"/>
                </a:moveTo>
                <a:lnTo>
                  <a:pt x="1568896" y="0"/>
                </a:lnTo>
                <a:lnTo>
                  <a:pt x="1568896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67306" y="5033999"/>
            <a:ext cx="14793716" cy="1754452"/>
          </a:xfrm>
          <a:custGeom>
            <a:avLst/>
            <a:gdLst/>
            <a:ahLst/>
            <a:cxnLst/>
            <a:rect r="r" b="b" t="t" l="l"/>
            <a:pathLst>
              <a:path h="1754452" w="14793716">
                <a:moveTo>
                  <a:pt x="0" y="0"/>
                </a:moveTo>
                <a:lnTo>
                  <a:pt x="14793716" y="0"/>
                </a:lnTo>
                <a:lnTo>
                  <a:pt x="14793716" y="1754452"/>
                </a:lnTo>
                <a:lnTo>
                  <a:pt x="0" y="17544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06482" y="3418709"/>
            <a:ext cx="11059173" cy="1517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ChangeLens compares Git revisions, traces repository relationships, and identifies related work that may need review.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470121" y="798444"/>
            <a:ext cx="12931896" cy="1229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7"/>
              </a:lnSpc>
              <a:spcBef>
                <a:spcPct val="0"/>
              </a:spcBef>
            </a:pPr>
            <a:r>
              <a:rPr lang="en-US" b="true" sz="4432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HOW CHANGELEN</a:t>
            </a:r>
            <a:r>
              <a:rPr lang="en-US" b="true" sz="4432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S FIND</a:t>
            </a:r>
            <a:r>
              <a:rPr lang="en-US" b="true" sz="4432" strike="noStrike" u="none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S POTENTIALLY MISSING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95026" y="2587297"/>
            <a:ext cx="6682085" cy="3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7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ChangeLens does not stop at the Git diff.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644" y="7550596"/>
            <a:ext cx="12577736" cy="80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92"/>
              </a:lnSpc>
              <a:spcBef>
                <a:spcPct val="0"/>
              </a:spcBef>
            </a:pPr>
            <a:r>
              <a:rPr lang="en-US" sz="3099" spc="805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THE RESULT IS EVIDENCE-BACKED — NOT A GUESS ABOUT WHAT MUST CHANGE.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92002">
            <a:off x="-4887230" y="3590559"/>
            <a:ext cx="10401500" cy="9636918"/>
          </a:xfrm>
          <a:custGeom>
            <a:avLst/>
            <a:gdLst/>
            <a:ahLst/>
            <a:cxnLst/>
            <a:rect r="r" b="b" t="t" l="l"/>
            <a:pathLst>
              <a:path h="9636918" w="10401500">
                <a:moveTo>
                  <a:pt x="0" y="0"/>
                </a:moveTo>
                <a:lnTo>
                  <a:pt x="10401499" y="0"/>
                </a:lnTo>
                <a:lnTo>
                  <a:pt x="10401499" y="9636918"/>
                </a:lnTo>
                <a:lnTo>
                  <a:pt x="0" y="963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313520" y="3743281"/>
            <a:ext cx="20061513" cy="0"/>
          </a:xfrm>
          <a:prstGeom prst="line">
            <a:avLst/>
          </a:prstGeom>
          <a:ln cap="flat" w="28575">
            <a:solidFill>
              <a:srgbClr val="2D3A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814055" y="3568246"/>
            <a:ext cx="359553" cy="35955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53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90406" y="4417928"/>
            <a:ext cx="2197323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spc="130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01.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34963" y="4451127"/>
            <a:ext cx="2197323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spc="130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02.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9654" y="4302801"/>
            <a:ext cx="2197323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spc="130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03.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92840" y="4302801"/>
            <a:ext cx="2197323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spc="130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04.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1201" y="5805172"/>
            <a:ext cx="3075734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</a:pP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task_service.py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216564" y="3568246"/>
            <a:ext cx="359553" cy="3595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53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10091" y="3572401"/>
            <a:ext cx="359553" cy="35955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53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91919" y="3572401"/>
            <a:ext cx="359553" cy="35955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D53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155575"/>
              <a:ext cx="5588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0169" y="650260"/>
            <a:ext cx="12931896" cy="629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7"/>
              </a:lnSpc>
              <a:spcBef>
                <a:spcPct val="0"/>
              </a:spcBef>
            </a:pPr>
            <a:r>
              <a:rPr lang="en-US" b="true" sz="4432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EVIDENCE, NO</a:t>
            </a:r>
            <a:r>
              <a:rPr lang="en-US" b="true" sz="4432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T GUE</a:t>
            </a:r>
            <a:r>
              <a:rPr lang="en-US" b="true" sz="4432" strike="noStrike" u="none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SSWORK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2003072">
            <a:off x="12197331" y="-4596817"/>
            <a:ext cx="10401500" cy="9636918"/>
          </a:xfrm>
          <a:custGeom>
            <a:avLst/>
            <a:gdLst/>
            <a:ahLst/>
            <a:cxnLst/>
            <a:rect r="r" b="b" t="t" l="l"/>
            <a:pathLst>
              <a:path h="9636918" w="10401500">
                <a:moveTo>
                  <a:pt x="0" y="0"/>
                </a:moveTo>
                <a:lnTo>
                  <a:pt x="10401500" y="0"/>
                </a:lnTo>
                <a:lnTo>
                  <a:pt x="10401500" y="9636918"/>
                </a:lnTo>
                <a:lnTo>
                  <a:pt x="0" y="963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1790406" y="5245229"/>
            <a:ext cx="3211157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 spc="93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CHANGED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44678" y="5838371"/>
            <a:ext cx="1687609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t</a:t>
            </a: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asks.py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34963" y="5278428"/>
            <a:ext cx="3027392" cy="4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 spc="93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RELATED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45359" y="5838371"/>
            <a:ext cx="1885912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r</a:t>
            </a: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eference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90902" y="5278428"/>
            <a:ext cx="4794828" cy="4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8"/>
              </a:lnSpc>
              <a:spcBef>
                <a:spcPct val="0"/>
              </a:spcBef>
            </a:pPr>
            <a:r>
              <a:rPr lang="en-US" sz="3600" spc="936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RELATIONSHIP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21511" y="5838371"/>
            <a:ext cx="3472341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Potentia</a:t>
            </a: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lly incomplete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21511" y="5278428"/>
            <a:ext cx="3886708" cy="4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 spc="93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81501" y="1747596"/>
            <a:ext cx="12759333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ChangeLens uses repository evidence to explain why an artifact is flagged.</a:t>
            </a:r>
          </a:p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each relationship, it can show the relationship type, supporting evidence, and confidence.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44086" y="2804433"/>
            <a:ext cx="317435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0"/>
              </a:lnSpc>
              <a:spcBef>
                <a:spcPct val="0"/>
              </a:spcBef>
            </a:pPr>
            <a:r>
              <a:rPr lang="en-US" sz="4000" spc="104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EXAMPLE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71905" y="6935138"/>
            <a:ext cx="3835925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R</a:t>
            </a: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eferences symbol(s): get_tasks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44961" y="6315002"/>
            <a:ext cx="3886708" cy="48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3600" spc="93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EVIDENCE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5359" y="8103837"/>
            <a:ext cx="2855396" cy="30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1"/>
              </a:lnSpc>
            </a:pPr>
            <a:r>
              <a:rPr lang="en-US" sz="17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medium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46513" y="7526069"/>
            <a:ext cx="3886708" cy="46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465" spc="900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CONFIDENCE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78299" y="9059413"/>
            <a:ext cx="10326737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Potentially missing ≠ definitely required</a:t>
            </a:r>
          </a:p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result tells the developer where to look — not what decision to make.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0193421" y="2208017"/>
            <a:ext cx="8627943" cy="7561216"/>
          </a:xfrm>
          <a:custGeom>
            <a:avLst/>
            <a:gdLst/>
            <a:ahLst/>
            <a:cxnLst/>
            <a:rect r="r" b="b" t="t" l="l"/>
            <a:pathLst>
              <a:path h="7561216" w="8627943">
                <a:moveTo>
                  <a:pt x="0" y="7561216"/>
                </a:moveTo>
                <a:lnTo>
                  <a:pt x="8627943" y="7561216"/>
                </a:lnTo>
                <a:lnTo>
                  <a:pt x="8627943" y="0"/>
                </a:lnTo>
                <a:lnTo>
                  <a:pt x="0" y="0"/>
                </a:lnTo>
                <a:lnTo>
                  <a:pt x="0" y="75612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48836" y="3648076"/>
            <a:ext cx="2340549" cy="234054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A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-2164925">
            <a:off x="6511436" y="109586"/>
            <a:ext cx="14015348" cy="7874078"/>
          </a:xfrm>
          <a:custGeom>
            <a:avLst/>
            <a:gdLst/>
            <a:ahLst/>
            <a:cxnLst/>
            <a:rect r="r" b="b" t="t" l="l"/>
            <a:pathLst>
              <a:path h="7874078" w="14015348">
                <a:moveTo>
                  <a:pt x="0" y="7874078"/>
                </a:moveTo>
                <a:lnTo>
                  <a:pt x="14015349" y="7874078"/>
                </a:lnTo>
                <a:lnTo>
                  <a:pt x="14015349" y="0"/>
                </a:lnTo>
                <a:lnTo>
                  <a:pt x="0" y="0"/>
                </a:lnTo>
                <a:lnTo>
                  <a:pt x="0" y="78740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-765238" y="9975128"/>
            <a:ext cx="6492240" cy="0"/>
          </a:xfrm>
          <a:prstGeom prst="line">
            <a:avLst/>
          </a:prstGeom>
          <a:ln cap="flat" w="114300">
            <a:solidFill>
              <a:srgbClr val="2D3A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true" rot="7006673">
            <a:off x="14289185" y="5316019"/>
            <a:ext cx="3223201" cy="4870221"/>
          </a:xfrm>
          <a:custGeom>
            <a:avLst/>
            <a:gdLst/>
            <a:ahLst/>
            <a:cxnLst/>
            <a:rect r="r" b="b" t="t" l="l"/>
            <a:pathLst>
              <a:path h="4870221" w="3223201">
                <a:moveTo>
                  <a:pt x="0" y="4870222"/>
                </a:moveTo>
                <a:lnTo>
                  <a:pt x="3223201" y="4870222"/>
                </a:lnTo>
                <a:lnTo>
                  <a:pt x="3223201" y="0"/>
                </a:lnTo>
                <a:lnTo>
                  <a:pt x="0" y="0"/>
                </a:lnTo>
                <a:lnTo>
                  <a:pt x="0" y="487022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3293" y="-2165215"/>
            <a:ext cx="2167315" cy="2167315"/>
          </a:xfrm>
          <a:custGeom>
            <a:avLst/>
            <a:gdLst/>
            <a:ahLst/>
            <a:cxnLst/>
            <a:rect r="r" b="b" t="t" l="l"/>
            <a:pathLst>
              <a:path h="2167315" w="2167315">
                <a:moveTo>
                  <a:pt x="0" y="0"/>
                </a:moveTo>
                <a:lnTo>
                  <a:pt x="2167315" y="0"/>
                </a:lnTo>
                <a:lnTo>
                  <a:pt x="2167315" y="2167315"/>
                </a:lnTo>
                <a:lnTo>
                  <a:pt x="0" y="21673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134129" y="3243959"/>
            <a:ext cx="5341416" cy="6585403"/>
          </a:xfrm>
          <a:custGeom>
            <a:avLst/>
            <a:gdLst/>
            <a:ahLst/>
            <a:cxnLst/>
            <a:rect r="r" b="b" t="t" l="l"/>
            <a:pathLst>
              <a:path h="6585403" w="5341416">
                <a:moveTo>
                  <a:pt x="0" y="0"/>
                </a:moveTo>
                <a:lnTo>
                  <a:pt x="5341416" y="0"/>
                </a:lnTo>
                <a:lnTo>
                  <a:pt x="5341416" y="6585403"/>
                </a:lnTo>
                <a:lnTo>
                  <a:pt x="0" y="6585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82612" y="525767"/>
            <a:ext cx="12418174" cy="190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8"/>
              </a:lnSpc>
            </a:pPr>
            <a:r>
              <a:rPr lang="en-US" b="true" sz="7406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A REAL CHANGELENS 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76550" y="2512113"/>
            <a:ext cx="11924784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One change can reveal related work that was not part of the change.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604" y="8235157"/>
            <a:ext cx="1785377" cy="1314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Potentially missing ≠ definitely required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8240" y="-28240"/>
            <a:ext cx="4058320" cy="4114800"/>
          </a:xfrm>
          <a:custGeom>
            <a:avLst/>
            <a:gdLst/>
            <a:ahLst/>
            <a:cxnLst/>
            <a:rect r="r" b="b" t="t" l="l"/>
            <a:pathLst>
              <a:path h="4114800" w="4058320">
                <a:moveTo>
                  <a:pt x="0" y="0"/>
                </a:moveTo>
                <a:lnTo>
                  <a:pt x="4058320" y="0"/>
                </a:lnTo>
                <a:lnTo>
                  <a:pt x="4058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01440" y="6200440"/>
            <a:ext cx="4058320" cy="4114800"/>
          </a:xfrm>
          <a:custGeom>
            <a:avLst/>
            <a:gdLst/>
            <a:ahLst/>
            <a:cxnLst/>
            <a:rect r="r" b="b" t="t" l="l"/>
            <a:pathLst>
              <a:path h="4114800" w="4058320">
                <a:moveTo>
                  <a:pt x="405832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58320" y="0"/>
                </a:lnTo>
                <a:lnTo>
                  <a:pt x="405832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097639" y="8772190"/>
            <a:ext cx="834341" cy="972220"/>
          </a:xfrm>
          <a:custGeom>
            <a:avLst/>
            <a:gdLst/>
            <a:ahLst/>
            <a:cxnLst/>
            <a:rect r="r" b="b" t="t" l="l"/>
            <a:pathLst>
              <a:path h="972220" w="834341">
                <a:moveTo>
                  <a:pt x="0" y="0"/>
                </a:moveTo>
                <a:lnTo>
                  <a:pt x="834341" y="0"/>
                </a:lnTo>
                <a:lnTo>
                  <a:pt x="834341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5143500"/>
            <a:ext cx="1866181" cy="18661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A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06650" y="5857863"/>
            <a:ext cx="1423732" cy="142373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A4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749468" y="1028700"/>
            <a:ext cx="1997983" cy="19979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A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13756029" y="542590"/>
            <a:ext cx="834341" cy="972220"/>
          </a:xfrm>
          <a:custGeom>
            <a:avLst/>
            <a:gdLst/>
            <a:ahLst/>
            <a:cxnLst/>
            <a:rect r="r" b="b" t="t" l="l"/>
            <a:pathLst>
              <a:path h="972220" w="834341">
                <a:moveTo>
                  <a:pt x="0" y="0"/>
                </a:moveTo>
                <a:lnTo>
                  <a:pt x="834342" y="0"/>
                </a:lnTo>
                <a:lnTo>
                  <a:pt x="834342" y="972220"/>
                </a:lnTo>
                <a:lnTo>
                  <a:pt x="0" y="9722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-1198382">
            <a:off x="548956" y="4453949"/>
            <a:ext cx="2768518" cy="2567172"/>
          </a:xfrm>
          <a:custGeom>
            <a:avLst/>
            <a:gdLst/>
            <a:ahLst/>
            <a:cxnLst/>
            <a:rect r="r" b="b" t="t" l="l"/>
            <a:pathLst>
              <a:path h="2567172" w="2768518">
                <a:moveTo>
                  <a:pt x="2768518" y="0"/>
                </a:moveTo>
                <a:lnTo>
                  <a:pt x="0" y="0"/>
                </a:lnTo>
                <a:lnTo>
                  <a:pt x="0" y="2567171"/>
                </a:lnTo>
                <a:lnTo>
                  <a:pt x="2768518" y="2567171"/>
                </a:lnTo>
                <a:lnTo>
                  <a:pt x="27685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114800" y="666165"/>
            <a:ext cx="9246121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spc="1039">
                <a:solidFill>
                  <a:srgbClr val="2D3A47"/>
                </a:solidFill>
                <a:latin typeface="Quilin"/>
                <a:ea typeface="Quilin"/>
                <a:cs typeface="Quilin"/>
                <a:sym typeface="Quilin"/>
              </a:rPr>
              <a:t>COMPLETE VS. POTENTIALLY INCOMPLETE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03441" y="2464824"/>
            <a:ext cx="10646507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ChangeLens compares related artifacts with the actual change.</a:t>
            </a:r>
          </a:p>
          <a:p>
            <a:pPr algn="ctr">
              <a:lnSpc>
                <a:spcPts val="1800"/>
              </a:lnSpc>
            </a:pPr>
          </a:p>
          <a:p>
            <a:pPr algn="ctr">
              <a:lnSpc>
                <a:spcPts val="18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970057" y="6404746"/>
            <a:ext cx="3677466" cy="35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  <a:spcBef>
                <a:spcPct val="0"/>
              </a:spcBef>
            </a:pPr>
            <a:r>
              <a:rPr lang="en-US" sz="2126" spc="552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RESUL</a:t>
            </a:r>
            <a:r>
              <a:rPr lang="en-US" sz="2126" spc="552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T: </a:t>
            </a:r>
            <a:r>
              <a:rPr lang="en-US" sz="2126" spc="552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C</a:t>
            </a:r>
            <a:r>
              <a:rPr lang="en-US" sz="2126" spc="552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OMP</a:t>
            </a:r>
            <a:r>
              <a:rPr lang="en-US" sz="2126" spc="552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LET</a:t>
            </a:r>
            <a:r>
              <a:rPr lang="en-US" sz="2126" spc="552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21698" y="4883646"/>
            <a:ext cx="4691176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ated 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 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 in the 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04706" y="3855398"/>
            <a:ext cx="4808168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COMPLETE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39101" y="6368942"/>
            <a:ext cx="5588153" cy="72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7"/>
              </a:lnSpc>
              <a:spcBef>
                <a:spcPct val="0"/>
              </a:spcBef>
            </a:pPr>
            <a:r>
              <a:rPr lang="en-US" sz="2126" spc="552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RESULT: POTENTIALLY INCOMPLETE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0434" y="4883646"/>
            <a:ext cx="560682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rel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ted ar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ifact was iden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ified 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</a:t>
            </a:r>
            <a:r>
              <a:rPr lang="en-US" sz="2400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 was not part of the change.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51142" y="3786894"/>
            <a:ext cx="4808168" cy="8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b="true" sz="3200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POTENTIALLY INCOMPLETE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13070" y="7909987"/>
            <a:ext cx="5267325" cy="64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Evidence → Recommendation → Developer Decision</a:t>
            </a:r>
          </a:p>
          <a:p>
            <a:pPr algn="ct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Potentially missing ≠ definitely required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804346" y="9244012"/>
            <a:ext cx="13681166" cy="4763"/>
          </a:xfrm>
          <a:prstGeom prst="line">
            <a:avLst/>
          </a:prstGeom>
          <a:ln cap="flat" w="9525">
            <a:solidFill>
              <a:srgbClr val="9D53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22482" y="1579367"/>
            <a:ext cx="17608374" cy="746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64"/>
              </a:lnSpc>
              <a:spcBef>
                <a:spcPct val="0"/>
              </a:spcBef>
            </a:pPr>
            <a:r>
              <a:rPr lang="en-US" b="true" sz="6532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HIDDEN COLLATERAL DEPENDENCIES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57471" y="2994216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VERIFIED SCENARIO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07856" y="9596713"/>
            <a:ext cx="782867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One change can have multiple types of related work.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9D53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804346" y="2924738"/>
            <a:ext cx="13681166" cy="0"/>
          </a:xfrm>
          <a:prstGeom prst="line">
            <a:avLst/>
          </a:prstGeom>
          <a:ln cap="flat" w="9525">
            <a:solidFill>
              <a:srgbClr val="9D53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51435" y="3623917"/>
            <a:ext cx="4237173" cy="416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76"/>
              </a:lnSpc>
            </a:pPr>
            <a:r>
              <a:rPr lang="en-US" sz="2982" spc="775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CHANGELENS CAN SURFACE DIFFERENT REPOSITORY RELATIONSHIPS THAT MAY DESERVE REVIEW.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77856" y="7015740"/>
            <a:ext cx="4152999" cy="757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659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Documentat</a:t>
            </a:r>
            <a:r>
              <a:rPr lang="en-US" sz="2659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ion explicitly references tasks, tasks.py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18145" y="3727006"/>
            <a:ext cx="4152999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b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ackend/api/tasks.py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40998" y="5061432"/>
            <a:ext cx="2658317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REA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DME.md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76058" y="5061432"/>
            <a:ext cx="4152999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→ doc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umentation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0998" y="7210447"/>
            <a:ext cx="4152999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R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EADME.md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43577" y="3537829"/>
            <a:ext cx="3628783" cy="741616"/>
            <a:chOff x="0" y="0"/>
            <a:chExt cx="1029037" cy="2103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122752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Changed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43577" y="4869996"/>
            <a:ext cx="3628783" cy="741616"/>
            <a:chOff x="0" y="0"/>
            <a:chExt cx="1029037" cy="2103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122752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Potentially Missing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43577" y="7019010"/>
            <a:ext cx="3628783" cy="741616"/>
            <a:chOff x="0" y="0"/>
            <a:chExt cx="1029037" cy="2103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122752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Evidence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772360" y="3908637"/>
            <a:ext cx="1606553" cy="0"/>
          </a:xfrm>
          <a:prstGeom prst="line">
            <a:avLst/>
          </a:prstGeom>
          <a:ln cap="flat" w="9525">
            <a:solidFill>
              <a:srgbClr val="9D53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9772360" y="5236041"/>
            <a:ext cx="1606553" cy="0"/>
          </a:xfrm>
          <a:prstGeom prst="line">
            <a:avLst/>
          </a:prstGeom>
          <a:ln cap="flat" w="9525">
            <a:solidFill>
              <a:srgbClr val="9D53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9772360" y="7385056"/>
            <a:ext cx="1606553" cy="0"/>
          </a:xfrm>
          <a:prstGeom prst="line">
            <a:avLst/>
          </a:prstGeom>
          <a:ln cap="flat" w="9525">
            <a:solidFill>
              <a:srgbClr val="9D53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11740998" y="5779366"/>
            <a:ext cx="3690819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backen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d/main.py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07976" y="5803712"/>
            <a:ext cx="4152999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→ referenc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684476" y="8097272"/>
            <a:ext cx="3294423" cy="67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43"/>
              </a:lnSpc>
              <a:spcBef>
                <a:spcPct val="0"/>
              </a:spcBef>
            </a:pPr>
            <a:r>
              <a:rPr lang="en-US" sz="2403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R</a:t>
            </a:r>
            <a:r>
              <a:rPr lang="en-US" sz="2403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eferences symbol(s): list_tasks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45692" y="8125847"/>
            <a:ext cx="4152999" cy="3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747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backen</a:t>
            </a:r>
            <a:r>
              <a:rPr lang="en-US" sz="2747" strike="noStrike" u="none">
                <a:solidFill>
                  <a:srgbClr val="2D3A47"/>
                </a:solidFill>
                <a:latin typeface="Shlomo"/>
                <a:ea typeface="Shlomo"/>
                <a:cs typeface="Shlomo"/>
                <a:sym typeface="Shlomo"/>
              </a:rPr>
              <a:t>d/main.py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-1492002">
            <a:off x="-4887230" y="3590559"/>
            <a:ext cx="10401500" cy="9636918"/>
          </a:xfrm>
          <a:custGeom>
            <a:avLst/>
            <a:gdLst/>
            <a:ahLst/>
            <a:cxnLst/>
            <a:rect r="r" b="b" t="t" l="l"/>
            <a:pathLst>
              <a:path h="9636918" w="10401500">
                <a:moveTo>
                  <a:pt x="0" y="0"/>
                </a:moveTo>
                <a:lnTo>
                  <a:pt x="10401499" y="0"/>
                </a:lnTo>
                <a:lnTo>
                  <a:pt x="10401499" y="9636918"/>
                </a:lnTo>
                <a:lnTo>
                  <a:pt x="0" y="9636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28568" y="804889"/>
            <a:ext cx="1503445" cy="501148"/>
            <a:chOff x="0" y="0"/>
            <a:chExt cx="2004594" cy="668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336396" y="0"/>
              <a:ext cx="668198" cy="668198"/>
            </a:xfrm>
            <a:custGeom>
              <a:avLst/>
              <a:gdLst/>
              <a:ahLst/>
              <a:cxnLst/>
              <a:rect r="r" b="b" t="t" l="l"/>
              <a:pathLst>
                <a:path h="668198" w="668198">
                  <a:moveTo>
                    <a:pt x="0" y="0"/>
                  </a:moveTo>
                  <a:lnTo>
                    <a:pt x="668198" y="0"/>
                  </a:lnTo>
                  <a:lnTo>
                    <a:pt x="668198" y="668198"/>
                  </a:lnTo>
                  <a:lnTo>
                    <a:pt x="0" y="668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68198" y="0"/>
              <a:ext cx="668198" cy="668198"/>
            </a:xfrm>
            <a:custGeom>
              <a:avLst/>
              <a:gdLst/>
              <a:ahLst/>
              <a:cxnLst/>
              <a:rect r="r" b="b" t="t" l="l"/>
              <a:pathLst>
                <a:path h="668198" w="668198">
                  <a:moveTo>
                    <a:pt x="0" y="0"/>
                  </a:moveTo>
                  <a:lnTo>
                    <a:pt x="668198" y="0"/>
                  </a:lnTo>
                  <a:lnTo>
                    <a:pt x="668198" y="668198"/>
                  </a:lnTo>
                  <a:lnTo>
                    <a:pt x="0" y="668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8198" cy="668198"/>
            </a:xfrm>
            <a:custGeom>
              <a:avLst/>
              <a:gdLst/>
              <a:ahLst/>
              <a:cxnLst/>
              <a:rect r="r" b="b" t="t" l="l"/>
              <a:pathLst>
                <a:path h="668198" w="668198">
                  <a:moveTo>
                    <a:pt x="0" y="0"/>
                  </a:moveTo>
                  <a:lnTo>
                    <a:pt x="668198" y="0"/>
                  </a:lnTo>
                  <a:lnTo>
                    <a:pt x="668198" y="668198"/>
                  </a:lnTo>
                  <a:lnTo>
                    <a:pt x="0" y="668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811867" y="8478490"/>
            <a:ext cx="9054597" cy="101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</a:t>
            </a: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ed the focused regression test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test_completeness_co_deleted_related_artifact_is_not_reported_as_missing</a:t>
            </a:r>
          </a:p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25/25 relevant tests passed with no regressions.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886309" y="2049904"/>
            <a:ext cx="7200334" cy="720183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28188" y="1464385"/>
            <a:ext cx="14793058" cy="69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7"/>
              </a:lnSpc>
            </a:pPr>
            <a:r>
              <a:rPr lang="en-US" b="true" sz="4930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IBM</a:t>
            </a:r>
            <a:r>
              <a:rPr lang="en-US" b="true" sz="4930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 BOB 2.0 IN OUR DEVELOPMENT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8645" y="9457660"/>
            <a:ext cx="412065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IBM B</a:t>
            </a: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 2.0 — Development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3772" y="2455747"/>
            <a:ext cx="79268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</a:t>
            </a: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 used IBM Bob 2.0 as part of the ChangeLens development workflow.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11867" y="4290477"/>
            <a:ext cx="79268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</a:t>
            </a: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entify one meaningful uncovered regression case in the analyzer tests and, if useful, implement the smallest focused regression test.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448" y="3417095"/>
            <a:ext cx="3745983" cy="53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60"/>
              </a:lnSpc>
              <a:spcBef>
                <a:spcPts val="3270"/>
              </a:spcBef>
            </a:pPr>
            <a:r>
              <a:rPr lang="en-US" sz="3114" spc="809">
                <a:solidFill>
                  <a:srgbClr val="F2F1ED"/>
                </a:solidFill>
                <a:latin typeface="Shlomo Bold"/>
                <a:ea typeface="Shlomo Bold"/>
                <a:cs typeface="Shlomo Bold"/>
                <a:sym typeface="Shlomo Bold"/>
              </a:rPr>
              <a:t>ACTUAL TASK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1867" y="6654249"/>
            <a:ext cx="7926800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Bob i</a:t>
            </a: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</a:t>
            </a:r>
            <a:r>
              <a:rPr lang="en-US" sz="18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entified an uncovered edge case where a related artifact deleted in the same change could incorrectly be reported as potentially missing.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2448" y="5458850"/>
            <a:ext cx="3745983" cy="96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36"/>
              </a:lnSpc>
              <a:spcBef>
                <a:spcPts val="2952"/>
              </a:spcBef>
            </a:pPr>
            <a:r>
              <a:rPr lang="en-US" sz="2812" spc="731">
                <a:solidFill>
                  <a:srgbClr val="F2F1ED"/>
                </a:solidFill>
                <a:latin typeface="Shlomo Bold"/>
                <a:ea typeface="Shlomo Bold"/>
                <a:cs typeface="Shlomo Bold"/>
                <a:sym typeface="Shlomo Bold"/>
              </a:rPr>
              <a:t>BOB CONTRIBUTION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2448" y="7665808"/>
            <a:ext cx="3745983" cy="60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17"/>
              </a:lnSpc>
              <a:spcBef>
                <a:spcPts val="3763"/>
              </a:spcBef>
            </a:pPr>
            <a:r>
              <a:rPr lang="en-US" sz="3583" spc="931">
                <a:solidFill>
                  <a:srgbClr val="F2F1ED"/>
                </a:solidFill>
                <a:latin typeface="Shlomo Bold"/>
                <a:ea typeface="Shlomo Bold"/>
                <a:cs typeface="Shlomo Bold"/>
                <a:sym typeface="Shlomo Bold"/>
              </a:rPr>
              <a:t>RESULT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93882" y="714375"/>
            <a:ext cx="12148587" cy="0"/>
          </a:xfrm>
          <a:prstGeom prst="line">
            <a:avLst/>
          </a:prstGeom>
          <a:ln cap="flat" w="38100">
            <a:solidFill>
              <a:srgbClr val="2D3A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69034" y="2802209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941407" y="6294226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3" y="4682582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8890" y="2518372"/>
            <a:ext cx="10951717" cy="831960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3753" y="876300"/>
            <a:ext cx="7571207" cy="2256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VERIFIED EN</a:t>
            </a:r>
            <a:r>
              <a:rPr lang="en-US" b="true" sz="6399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72210" y="4617548"/>
            <a:ext cx="201694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pc="546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VERIFIED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72210" y="4007567"/>
            <a:ext cx="246013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54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SUCCES</a:t>
            </a:r>
            <a:r>
              <a:rPr lang="en-US" sz="2100" spc="54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SFUL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2210" y="3372059"/>
            <a:ext cx="64871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54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72210" y="2764109"/>
            <a:ext cx="102146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spc="546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40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922806" y="5439950"/>
            <a:ext cx="4043753" cy="2987261"/>
            <a:chOff x="0" y="0"/>
            <a:chExt cx="5391671" cy="398301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39167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546">
                  <a:solidFill>
                    <a:srgbClr val="2D3A47"/>
                  </a:solidFill>
                  <a:latin typeface="Shlomo Bold"/>
                  <a:ea typeface="Shlomo Bold"/>
                  <a:cs typeface="Shlomo Bold"/>
                  <a:sym typeface="Shlomo Bold"/>
                </a:rPr>
                <a:t>VERIFIED SCENARIOS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53075"/>
              <a:ext cx="5391671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Complete changes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Potentially</a:t>
              </a: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 incomplete changes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Hidden dependencies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Multiple relationships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Renames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Deletions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Path normalization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Unrelated-file filtering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292258" y="9602118"/>
            <a:ext cx="229850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40 </a:t>
            </a:r>
            <a:r>
              <a:rPr lang="en-US" sz="1899">
                <a:solidFill>
                  <a:srgbClr val="000000"/>
                </a:solidFill>
                <a:latin typeface="Shlomo"/>
                <a:ea typeface="Shlomo"/>
                <a:cs typeface="Shlomo"/>
                <a:sym typeface="Shlomo"/>
              </a:rPr>
              <a:t>passed, 1 warning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60346" y="2780111"/>
            <a:ext cx="3152477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 / Analyzer Tests Passed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18489" y="3388060"/>
            <a:ext cx="2294334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Frontend Tests Passed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89151" y="3998042"/>
            <a:ext cx="2823672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Production Build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25638" y="4659077"/>
            <a:ext cx="2633662" cy="31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1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API / Backend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D9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2387" y="1028700"/>
            <a:ext cx="16223226" cy="8229600"/>
          </a:xfrm>
          <a:custGeom>
            <a:avLst/>
            <a:gdLst/>
            <a:ahLst/>
            <a:cxnLst/>
            <a:rect r="r" b="b" t="t" l="l"/>
            <a:pathLst>
              <a:path h="8229600" w="16223226">
                <a:moveTo>
                  <a:pt x="0" y="0"/>
                </a:moveTo>
                <a:lnTo>
                  <a:pt x="16223226" y="0"/>
                </a:lnTo>
                <a:lnTo>
                  <a:pt x="1622322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21622">
            <a:off x="-1080477" y="-1988536"/>
            <a:ext cx="2862150" cy="3660889"/>
          </a:xfrm>
          <a:custGeom>
            <a:avLst/>
            <a:gdLst/>
            <a:ahLst/>
            <a:cxnLst/>
            <a:rect r="r" b="b" t="t" l="l"/>
            <a:pathLst>
              <a:path h="3660889" w="2862150">
                <a:moveTo>
                  <a:pt x="0" y="0"/>
                </a:moveTo>
                <a:lnTo>
                  <a:pt x="2862150" y="0"/>
                </a:lnTo>
                <a:lnTo>
                  <a:pt x="2862150" y="3660889"/>
                </a:lnTo>
                <a:lnTo>
                  <a:pt x="0" y="3660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45944" y="4142602"/>
            <a:ext cx="6227453" cy="3408115"/>
          </a:xfrm>
          <a:custGeom>
            <a:avLst/>
            <a:gdLst/>
            <a:ahLst/>
            <a:cxnLst/>
            <a:rect r="r" b="b" t="t" l="l"/>
            <a:pathLst>
              <a:path h="3408115" w="6227453">
                <a:moveTo>
                  <a:pt x="0" y="0"/>
                </a:moveTo>
                <a:lnTo>
                  <a:pt x="6227453" y="0"/>
                </a:lnTo>
                <a:lnTo>
                  <a:pt x="6227453" y="3408115"/>
                </a:lnTo>
                <a:lnTo>
                  <a:pt x="0" y="3408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402566" y="-801745"/>
            <a:ext cx="2862150" cy="3660889"/>
          </a:xfrm>
          <a:custGeom>
            <a:avLst/>
            <a:gdLst/>
            <a:ahLst/>
            <a:cxnLst/>
            <a:rect r="r" b="b" t="t" l="l"/>
            <a:pathLst>
              <a:path h="3660889" w="2862150">
                <a:moveTo>
                  <a:pt x="0" y="0"/>
                </a:moveTo>
                <a:lnTo>
                  <a:pt x="2862150" y="0"/>
                </a:lnTo>
                <a:lnTo>
                  <a:pt x="2862150" y="3660890"/>
                </a:lnTo>
                <a:lnTo>
                  <a:pt x="0" y="3660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00473" y="1987409"/>
            <a:ext cx="4904256" cy="814955"/>
            <a:chOff x="0" y="0"/>
            <a:chExt cx="561102" cy="93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9397" y="1989705"/>
            <a:ext cx="4904256" cy="814955"/>
            <a:chOff x="0" y="0"/>
            <a:chExt cx="561102" cy="93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00473" y="3135738"/>
            <a:ext cx="4904256" cy="814955"/>
            <a:chOff x="0" y="0"/>
            <a:chExt cx="561102" cy="93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9397" y="3157085"/>
            <a:ext cx="4904256" cy="814955"/>
            <a:chOff x="0" y="0"/>
            <a:chExt cx="561102" cy="93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00473" y="4324141"/>
            <a:ext cx="4904256" cy="814955"/>
            <a:chOff x="0" y="0"/>
            <a:chExt cx="561102" cy="93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99397" y="4343514"/>
            <a:ext cx="4904256" cy="814955"/>
            <a:chOff x="0" y="0"/>
            <a:chExt cx="561102" cy="93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00473" y="5472470"/>
            <a:ext cx="4904256" cy="814955"/>
            <a:chOff x="0" y="0"/>
            <a:chExt cx="561102" cy="932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99397" y="5549080"/>
            <a:ext cx="4904256" cy="814955"/>
            <a:chOff x="0" y="0"/>
            <a:chExt cx="561102" cy="93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7A746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61102" cy="13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5641797" y="6525616"/>
            <a:ext cx="7315200" cy="256032"/>
          </a:xfrm>
          <a:custGeom>
            <a:avLst/>
            <a:gdLst/>
            <a:ahLst/>
            <a:cxnLst/>
            <a:rect r="r" b="b" t="t" l="l"/>
            <a:pathLst>
              <a:path h="256032" w="7315200">
                <a:moveTo>
                  <a:pt x="0" y="0"/>
                </a:moveTo>
                <a:lnTo>
                  <a:pt x="7315200" y="0"/>
                </a:lnTo>
                <a:lnTo>
                  <a:pt x="73152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269301" y="67516"/>
            <a:ext cx="10138180" cy="118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b="true" sz="6716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TODAY → FUTURE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94992" y="1182803"/>
            <a:ext cx="11298016" cy="572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9"/>
              </a:lnSpc>
              <a:spcBef>
                <a:spcPct val="0"/>
              </a:spcBef>
            </a:pPr>
            <a:r>
              <a:rPr lang="en-US" sz="3327" spc="865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TODAY — CURRENT FUNCTIONALITY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171108" y="2171758"/>
            <a:ext cx="416298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</a:t>
            </a:r>
            <a:r>
              <a:rPr lang="en-US" sz="2499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 Changes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09025" y="2185831"/>
            <a:ext cx="416298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Compare two Git revisions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171108" y="3353105"/>
            <a:ext cx="416298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Relationship Discovery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70032" y="3138359"/>
            <a:ext cx="4162986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Find related repository artifacts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71108" y="4508489"/>
            <a:ext cx="416298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Completeness Analysis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338390" y="4305414"/>
            <a:ext cx="4904256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Identify potentially missing related work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171108" y="5689837"/>
            <a:ext cx="416298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Evidence-backed Report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70032" y="5530354"/>
            <a:ext cx="4162986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2F1E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Show evidence for developer review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08540" y="7393724"/>
            <a:ext cx="5096190" cy="116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659"/>
              </a:lnSpc>
              <a:spcBef>
                <a:spcPct val="0"/>
              </a:spcBef>
            </a:pPr>
            <a:r>
              <a:rPr lang="en-US" sz="3327" spc="865" strike="noStrike" u="none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FUTURE — NEXT DIRECTIONS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38390" y="6887909"/>
            <a:ext cx="4760714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More language support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 integration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CI/CD integration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Deeper data-flow analysis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Richer repository intelligence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35106" y="9676828"/>
            <a:ext cx="1232858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Built for today's developer workflow. Designed to grow with the repository.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5641797" y="9316022"/>
            <a:ext cx="7315200" cy="256032"/>
          </a:xfrm>
          <a:custGeom>
            <a:avLst/>
            <a:gdLst/>
            <a:ahLst/>
            <a:cxnLst/>
            <a:rect r="r" b="b" t="t" l="l"/>
            <a:pathLst>
              <a:path h="256032" w="7315200">
                <a:moveTo>
                  <a:pt x="0" y="0"/>
                </a:moveTo>
                <a:lnTo>
                  <a:pt x="7315200" y="0"/>
                </a:lnTo>
                <a:lnTo>
                  <a:pt x="7315200" y="256032"/>
                </a:lnTo>
                <a:lnTo>
                  <a:pt x="0" y="2560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77201">
            <a:off x="8302125" y="-801031"/>
            <a:ext cx="12791303" cy="9442307"/>
          </a:xfrm>
          <a:custGeom>
            <a:avLst/>
            <a:gdLst/>
            <a:ahLst/>
            <a:cxnLst/>
            <a:rect r="r" b="b" t="t" l="l"/>
            <a:pathLst>
              <a:path h="9442307" w="12791303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659522">
            <a:off x="-1466084" y="-1104127"/>
            <a:ext cx="6017764" cy="3599717"/>
          </a:xfrm>
          <a:custGeom>
            <a:avLst/>
            <a:gdLst/>
            <a:ahLst/>
            <a:cxnLst/>
            <a:rect r="r" b="b" t="t" l="l"/>
            <a:pathLst>
              <a:path h="3599717" w="6017764">
                <a:moveTo>
                  <a:pt x="0" y="0"/>
                </a:moveTo>
                <a:lnTo>
                  <a:pt x="6017764" y="0"/>
                </a:lnTo>
                <a:lnTo>
                  <a:pt x="6017764" y="3599717"/>
                </a:lnTo>
                <a:lnTo>
                  <a:pt x="0" y="35997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4022" y="5188961"/>
            <a:ext cx="4716981" cy="6251420"/>
          </a:xfrm>
          <a:custGeom>
            <a:avLst/>
            <a:gdLst/>
            <a:ahLst/>
            <a:cxnLst/>
            <a:rect r="r" b="b" t="t" l="l"/>
            <a:pathLst>
              <a:path h="6251420" w="4716981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8363" y="4108709"/>
            <a:ext cx="20630088" cy="176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26"/>
              </a:lnSpc>
            </a:pPr>
            <a:r>
              <a:rPr lang="en-US" b="true" sz="13432">
                <a:solidFill>
                  <a:srgbClr val="2D3A47"/>
                </a:solidFill>
                <a:latin typeface="Cloud Lucent Bold"/>
                <a:ea typeface="Cloud Lucent Bold"/>
                <a:cs typeface="Cloud Lucent Bold"/>
                <a:sym typeface="Cloud Lucent Bold"/>
              </a:rPr>
              <a:t>CHANGELENS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5163" y="1480091"/>
            <a:ext cx="16214137" cy="0"/>
          </a:xfrm>
          <a:prstGeom prst="line">
            <a:avLst/>
          </a:prstGeom>
          <a:ln cap="flat" w="19050">
            <a:solidFill>
              <a:srgbClr val="2D3A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75526" y="659933"/>
            <a:ext cx="8703939" cy="106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3056" spc="794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WHAT ELSE NEEDS TO CHANGE?</a:t>
            </a:r>
          </a:p>
          <a:p>
            <a:pPr algn="l">
              <a:lnSpc>
                <a:spcPts val="4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809146" y="929752"/>
            <a:ext cx="3450154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IBM Bob 2.0 Hackathon</a:t>
            </a:r>
          </a:p>
          <a:p>
            <a:pPr algn="r">
              <a:lnSpc>
                <a:spcPts val="25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5698" y="6146927"/>
            <a:ext cx="9427352" cy="84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734" spc="711">
                <a:solidFill>
                  <a:srgbClr val="2D3A47"/>
                </a:solidFill>
                <a:latin typeface="Shlomo Bold"/>
                <a:ea typeface="Shlomo Bold"/>
                <a:cs typeface="Shlomo Bold"/>
                <a:sym typeface="Shlomo Bold"/>
              </a:rPr>
              <a:t>KNOW WHAT ELSE NEEDS TO CHANGE.</a:t>
            </a:r>
          </a:p>
          <a:p>
            <a:pPr algn="l">
              <a:lnSpc>
                <a:spcPts val="344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8234" y="9167414"/>
            <a:ext cx="40236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Team: CodeBloom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06506" y="8980089"/>
            <a:ext cx="40236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Maria Dorthy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06506" y="9505869"/>
            <a:ext cx="40236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Maria Silvia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DAHWTaCYdyg</dc:identifier>
  <dcterms:modified xsi:type="dcterms:W3CDTF">2011-08-01T06:04:30Z</dcterms:modified>
  <cp:revision>1</cp:revision>
  <dc:title>ChangeLens</dc:title>
</cp:coreProperties>
</file>